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utual Fund Analytics Platform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Mutual Fund Analytics Platform</a:t>
            </a:r>
          </a:p>
        </p:txBody>
      </p:sp>
      <p:sp>
        <p:nvSpPr>
          <p:cNvPr id="172" name="Bluestock Mutual Fund Capstone Project…"/>
          <p:cNvSpPr txBox="1"/>
          <p:nvPr>
            <p:ph type="subTitle" sz="half" idx="1"/>
          </p:nvPr>
        </p:nvSpPr>
        <p:spPr>
          <a:xfrm>
            <a:off x="1201342" y="7223190"/>
            <a:ext cx="21971001" cy="3586774"/>
          </a:xfrm>
          <a:prstGeom prst="rect">
            <a:avLst/>
          </a:prstGeom>
        </p:spPr>
        <p:txBody>
          <a:bodyPr/>
          <a:lstStyle/>
          <a:p>
            <a:pPr defTabSz="520065">
              <a:defRPr sz="4536"/>
            </a:pPr>
            <a:r>
              <a:t>Bluestock Mutual Fund Capstone Project</a:t>
            </a:r>
          </a:p>
          <a:p>
            <a:pPr defTabSz="520065">
              <a:defRPr sz="4536"/>
            </a:pPr>
          </a:p>
          <a:p>
            <a:pPr defTabSz="520065">
              <a:defRPr sz="4536"/>
            </a:pPr>
            <a:r>
              <a:t>Shivansh Khanna</a:t>
            </a:r>
          </a:p>
          <a:p>
            <a:pPr defTabSz="520065">
              <a:defRPr sz="4536"/>
            </a:pPr>
            <a:r>
              <a:t>B.Tech CSE (AI &amp; Data Science)</a:t>
            </a:r>
          </a:p>
          <a:p>
            <a:pPr defTabSz="520065">
              <a:defRPr sz="4536"/>
            </a:pPr>
            <a:r>
              <a:t>Graphic Era University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ROBLEM STATE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75" name="Mutual fund data is spread across multiple source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Mutual fund data is spread across multiple sources.</a:t>
            </a:r>
          </a:p>
          <a:p>
            <a:pPr/>
            <a:r>
              <a:t>Investors face difficulty comparing schemes.</a:t>
            </a:r>
          </a:p>
          <a:p>
            <a:pPr/>
            <a:r>
              <a:t> Manual analysis is time-consuming.</a:t>
            </a:r>
          </a:p>
          <a:p>
            <a:pPr/>
            <a:r>
              <a:t> Need for a centralized analytics platform.</a:t>
            </a:r>
          </a:p>
          <a:p>
            <a:pPr/>
            <a:r>
              <a:t>Goal: Generate actionable insights using data analytics.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ROJECT OBJECTIVES"/>
          <p:cNvSpPr txBox="1"/>
          <p:nvPr>
            <p:ph type="title"/>
          </p:nvPr>
        </p:nvSpPr>
        <p:spPr>
          <a:xfrm>
            <a:off x="3167874" y="1077359"/>
            <a:ext cx="21971001" cy="1433164"/>
          </a:xfrm>
          <a:prstGeom prst="rect">
            <a:avLst/>
          </a:prstGeom>
        </p:spPr>
        <p:txBody>
          <a:bodyPr/>
          <a:lstStyle>
            <a:lvl1pPr>
              <a:defRPr i="1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PROJECT OBJECTIVES</a:t>
            </a:r>
          </a:p>
        </p:txBody>
      </p:sp>
      <p:sp>
        <p:nvSpPr>
          <p:cNvPr id="178" name="Mutual fund data is spread across multiple source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Mutual fund data is spread across multiple sources.</a:t>
            </a:r>
          </a:p>
          <a:p>
            <a:pPr/>
            <a:r>
              <a:t>Investors face difficulty comparing schemes.</a:t>
            </a:r>
          </a:p>
          <a:p>
            <a:pPr/>
            <a:r>
              <a:t> Manual analysis is time-consuming.</a:t>
            </a:r>
          </a:p>
          <a:p>
            <a:pPr/>
            <a:r>
              <a:t> Need for a centralized analytics platform.</a:t>
            </a:r>
          </a:p>
          <a:p>
            <a:pPr/>
            <a:r>
              <a:t>Goal: Generate actionable insights using data analytics.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Data Sources"/>
          <p:cNvSpPr txBox="1"/>
          <p:nvPr>
            <p:ph type="title" idx="4294967295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</p:spPr>
        <p:txBody>
          <a:bodyPr/>
          <a:lstStyle>
            <a:lvl1pPr defTabSz="1365469">
              <a:defRPr i="1" spc="-95" sz="4760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Data Sources</a:t>
            </a:r>
          </a:p>
        </p:txBody>
      </p:sp>
      <p:sp>
        <p:nvSpPr>
          <p:cNvPr id="181" name="1. Fund Master…"/>
          <p:cNvSpPr txBox="1"/>
          <p:nvPr>
            <p:ph type="body" sz="half" idx="4294967295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</p:spPr>
        <p:txBody>
          <a:bodyPr/>
          <a:lstStyle/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1. Fund Master</a:t>
            </a:r>
          </a:p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2. NAV History</a:t>
            </a:r>
          </a:p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3. AUM by Fund House</a:t>
            </a:r>
          </a:p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4. Monthly SIP Inflows</a:t>
            </a:r>
          </a:p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5. Category Inflows</a:t>
            </a:r>
          </a:p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6. Industry Folio Count</a:t>
            </a:r>
          </a:p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7. Scheme Performance</a:t>
            </a:r>
          </a:p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8. Investor Transactions</a:t>
            </a:r>
          </a:p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9. Portfolio Holdings</a:t>
            </a:r>
          </a:p>
          <a:p>
            <a:pPr marL="0" indent="0" defTabSz="1658070">
              <a:spcBef>
                <a:spcPts val="3000"/>
              </a:spcBef>
              <a:buSzTx/>
              <a:buNone/>
              <a:defRPr sz="3264"/>
            </a:pPr>
            <a:r>
              <a:t>10. Benchmark Indices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Screenshot 2026-06-12 at 1.14.28 PM.png" descr="Screenshot 2026-06-12 at 1.14.28 PM.png"/>
          <p:cNvPicPr>
            <a:picLocks noChangeAspect="0"/>
          </p:cNvPicPr>
          <p:nvPr>
            <p:ph type="pic" idx="21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12414389" y="1181100"/>
            <a:ext cx="10477222" cy="10791171"/>
          </a:xfrm>
          <a:prstGeom prst="rect">
            <a:avLst/>
          </a:prstGeom>
          <a:ln w="9525">
            <a:round/>
          </a:ln>
        </p:spPr>
      </p:pic>
      <p:sp>
        <p:nvSpPr>
          <p:cNvPr id="184" name="System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01_nav_trend_all_schemes.png" descr="01_nav_trend_all_schemes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19984" t="0" r="19984" b="0"/>
          <a:stretch>
            <a:fillRect/>
          </a:stretch>
        </p:blipFill>
        <p:spPr>
          <a:xfrm>
            <a:off x="15345633" y="1269999"/>
            <a:ext cx="7838515" cy="5712701"/>
          </a:xfrm>
          <a:prstGeom prst="rect">
            <a:avLst/>
          </a:prstGeom>
        </p:spPr>
      </p:pic>
      <p:pic>
        <p:nvPicPr>
          <p:cNvPr id="187" name="03_sip_inflow_trend.png" descr="03_sip_inflow_trend.pn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20624" t="0" r="20624" b="0"/>
          <a:stretch>
            <a:fillRect/>
          </a:stretch>
        </p:blipFill>
        <p:spPr>
          <a:xfrm>
            <a:off x="15760700" y="7098672"/>
            <a:ext cx="7423560" cy="5415343"/>
          </a:xfrm>
          <a:prstGeom prst="rect">
            <a:avLst/>
          </a:prstGeom>
        </p:spPr>
      </p:pic>
      <p:sp>
        <p:nvSpPr>
          <p:cNvPr id="188" name="EDA Findings I"/>
          <p:cNvSpPr txBox="1"/>
          <p:nvPr>
            <p:ph type="title" idx="4294967295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i="1" spc="0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EDA Findings I</a:t>
            </a:r>
          </a:p>
        </p:txBody>
      </p:sp>
      <p:sp>
        <p:nvSpPr>
          <p:cNvPr id="189" name="• NAV values show long-term growth trends.…"/>
          <p:cNvSpPr txBox="1"/>
          <p:nvPr>
            <p:ph type="body" idx="4294967295"/>
          </p:nvPr>
        </p:nvSpPr>
        <p:spPr>
          <a:xfrm>
            <a:off x="1206500" y="4254500"/>
            <a:ext cx="21971000" cy="82550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• NAV values show long-term growth trends.</a:t>
            </a:r>
          </a:p>
          <a:p>
            <a:pPr marL="0" indent="0">
              <a:buSzTx/>
              <a:buNone/>
            </a:pPr>
            <a:r>
              <a:t>• SIP inflows increased significantly</a:t>
            </a:r>
          </a:p>
          <a:p>
            <a:pPr marL="0" indent="0">
              <a:buSzTx/>
              <a:buNone/>
            </a:pPr>
            <a:r>
              <a:t>    over the study period.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04_category_inflow_heatmap.png" descr="04_category_inflow_heatmap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27131" t="0" r="27131" b="0"/>
          <a:stretch>
            <a:fillRect/>
          </a:stretch>
        </p:blipFill>
        <p:spPr>
          <a:xfrm>
            <a:off x="15760700" y="1269999"/>
            <a:ext cx="7423448" cy="5410201"/>
          </a:xfrm>
          <a:prstGeom prst="rect">
            <a:avLst/>
          </a:prstGeom>
        </p:spPr>
      </p:pic>
      <p:pic>
        <p:nvPicPr>
          <p:cNvPr id="192" name="10_folio_count_growth.png" descr="10_folio_count_growth.pn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20624" t="0" r="20624" b="0"/>
          <a:stretch>
            <a:fillRect/>
          </a:stretch>
        </p:blipFill>
        <p:spPr>
          <a:xfrm>
            <a:off x="15760700" y="7098672"/>
            <a:ext cx="7423560" cy="5415343"/>
          </a:xfrm>
          <a:prstGeom prst="rect">
            <a:avLst/>
          </a:prstGeom>
        </p:spPr>
      </p:pic>
      <p:sp>
        <p:nvSpPr>
          <p:cNvPr id="193" name="EDA FINDINGS-II"/>
          <p:cNvSpPr txBox="1"/>
          <p:nvPr>
            <p:ph type="title" idx="4294967295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>
            <a:lvl1pPr>
              <a:defRPr i="1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EDA FINDINGS-II</a:t>
            </a:r>
          </a:p>
        </p:txBody>
      </p:sp>
      <p:sp>
        <p:nvSpPr>
          <p:cNvPr id="194" name="• Equity categories attracted higher inflows.…"/>
          <p:cNvSpPr txBox="1"/>
          <p:nvPr>
            <p:ph type="body" idx="4294967295"/>
          </p:nvPr>
        </p:nvSpPr>
        <p:spPr>
          <a:xfrm>
            <a:off x="1206500" y="4254500"/>
            <a:ext cx="21971000" cy="82550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• Equity categories attracted higher inflows.</a:t>
            </a:r>
          </a:p>
          <a:p>
            <a:pPr marL="0" indent="0">
              <a:buSzTx/>
              <a:buNone/>
            </a:pPr>
            <a:r>
              <a:t>• Folio count growth indicates rising retail</a:t>
            </a:r>
          </a:p>
          <a:p>
            <a:pPr marL="0" indent="0">
              <a:buSzTx/>
              <a:buNone/>
            </a:pPr>
            <a:r>
              <a:t>    Participation.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Metrics Calculated: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Metrics Calculated:</a:t>
            </a:r>
          </a:p>
          <a:p>
            <a:pPr marL="0" indent="0">
              <a:buSzTx/>
              <a:buNone/>
            </a:pPr>
            <a:r>
              <a:t>• CAGR (1Y, 3Y, 5Y)</a:t>
            </a:r>
          </a:p>
          <a:p>
            <a:pPr marL="0" indent="0">
              <a:buSzTx/>
              <a:buNone/>
            </a:pPr>
            <a:r>
              <a:t>• Sharpe Ratio</a:t>
            </a:r>
          </a:p>
          <a:p>
            <a:pPr marL="0" indent="0">
              <a:buSzTx/>
              <a:buNone/>
            </a:pPr>
            <a:r>
              <a:t>• Sortino Ratio</a:t>
            </a:r>
          </a:p>
          <a:p>
            <a:pPr marL="0" indent="0">
              <a:buSzTx/>
              <a:buNone/>
            </a:pPr>
            <a:r>
              <a:t>• Alpha</a:t>
            </a:r>
          </a:p>
          <a:p>
            <a:pPr marL="0" indent="0">
              <a:buSzTx/>
              <a:buNone/>
            </a:pPr>
            <a:r>
              <a:t>• Beta</a:t>
            </a:r>
          </a:p>
          <a:p>
            <a:pPr marL="0" indent="0">
              <a:buSzTx/>
              <a:buNone/>
            </a:pPr>
            <a:r>
              <a:t>• Maximum Drawdown</a:t>
            </a:r>
          </a:p>
        </p:txBody>
      </p:sp>
      <p:pic>
        <p:nvPicPr>
          <p:cNvPr id="197" name="benchmark_comparison.png" descr="benchmark_comparison.pn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1588" t="0" r="27232" b="0"/>
          <a:stretch>
            <a:fillRect/>
          </a:stretch>
        </p:blipFill>
        <p:spPr>
          <a:xfrm>
            <a:off x="10726956" y="1461700"/>
            <a:ext cx="12381917" cy="8117831"/>
          </a:xfrm>
          <a:prstGeom prst="rect">
            <a:avLst/>
          </a:prstGeom>
        </p:spPr>
      </p:pic>
      <p:sp>
        <p:nvSpPr>
          <p:cNvPr id="198" name="Performance Analyti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82880">
              <a:lnSpc>
                <a:spcPct val="100000"/>
              </a:lnSpc>
              <a:spcBef>
                <a:spcPts val="500"/>
              </a:spcBef>
              <a:defRPr i="1" spc="0" sz="5800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Performance Analytics</a:t>
            </a:r>
          </a:p>
          <a:p>
            <a:pPr defTabSz="182880">
              <a:lnSpc>
                <a:spcPct val="100000"/>
              </a:lnSpc>
              <a:spcBef>
                <a:spcPts val="400"/>
              </a:spcBef>
              <a:defRPr b="0" spc="0" sz="58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• Historical VaR (95%)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• Historical VaR (95%)</a:t>
            </a:r>
          </a:p>
          <a:p>
            <a:pPr marL="0" indent="0">
              <a:buSzTx/>
              <a:buNone/>
            </a:pPr>
            <a:r>
              <a:t>• Conditional VaR (CVaR)</a:t>
            </a:r>
          </a:p>
          <a:p>
            <a:pPr marL="0" indent="0">
              <a:buSzTx/>
              <a:buNone/>
            </a:pPr>
            <a:r>
              <a:t>• Rolling 90-Day Sharpe Ratio</a:t>
            </a:r>
          </a:p>
          <a:p>
            <a:pPr marL="0" indent="0">
              <a:buSzTx/>
              <a:buNone/>
            </a:pPr>
            <a:r>
              <a:t>• Investor Cohort Analysis</a:t>
            </a:r>
          </a:p>
          <a:p>
            <a:pPr marL="0" indent="0">
              <a:buSzTx/>
              <a:buNone/>
            </a:pPr>
            <a:r>
              <a:t>• SIP Continuity Analysis</a:t>
            </a:r>
          </a:p>
          <a:p>
            <a:pPr marL="0" indent="0">
              <a:buSzTx/>
              <a:buNone/>
            </a:pPr>
            <a:r>
              <a:t>• Sector HHI Concentration</a:t>
            </a:r>
          </a:p>
        </p:txBody>
      </p:sp>
      <p:pic>
        <p:nvPicPr>
          <p:cNvPr id="201" name="rolling_sharpe_chart.png" descr="rolling_sharpe_chart.pn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1078" t="0" r="29091" b="0"/>
          <a:stretch>
            <a:fillRect/>
          </a:stretch>
        </p:blipFill>
        <p:spPr>
          <a:xfrm>
            <a:off x="10334969" y="1263848"/>
            <a:ext cx="13032363" cy="7998355"/>
          </a:xfrm>
          <a:prstGeom prst="rect">
            <a:avLst/>
          </a:prstGeom>
        </p:spPr>
      </p:pic>
      <p:sp>
        <p:nvSpPr>
          <p:cNvPr id="202" name="ADVANCED ANALYTI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75054">
              <a:defRPr i="1" spc="-137" sz="6885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ADVANCED ANALYTICS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Screenshot 2026-06-12 at 11.34.17 AM.png" descr="Screenshot 2026-06-12 at 11.34.17 AM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18562"/>
          <a:stretch>
            <a:fillRect/>
          </a:stretch>
        </p:blipFill>
        <p:spPr>
          <a:xfrm>
            <a:off x="820354" y="5363150"/>
            <a:ext cx="7423449" cy="7007458"/>
          </a:xfrm>
          <a:prstGeom prst="rect">
            <a:avLst/>
          </a:prstGeom>
        </p:spPr>
      </p:pic>
      <p:pic>
        <p:nvPicPr>
          <p:cNvPr id="205" name="Screenshot 2026-06-12 at 11.57.32 AM.png" descr="Screenshot 2026-06-12 at 11.57.32 AM.pn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1978" t="0" r="0" b="0"/>
          <a:stretch>
            <a:fillRect/>
          </a:stretch>
        </p:blipFill>
        <p:spPr>
          <a:xfrm>
            <a:off x="11571592" y="3721278"/>
            <a:ext cx="7196644" cy="9797110"/>
          </a:xfrm>
          <a:prstGeom prst="rect">
            <a:avLst/>
          </a:prstGeom>
        </p:spPr>
      </p:pic>
      <p:sp>
        <p:nvSpPr>
          <p:cNvPr id="206" name="Dashboard Overview"/>
          <p:cNvSpPr txBox="1"/>
          <p:nvPr>
            <p:ph type="title" idx="4294967295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i="1" spc="0" sz="8000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Dashboard Overview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KEY FIND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i="1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KEY FINDINGS</a:t>
            </a:r>
            <a:r>
              <a:t> </a:t>
            </a:r>
          </a:p>
        </p:txBody>
      </p:sp>
      <p:sp>
        <p:nvSpPr>
          <p:cNvPr id="209" name="• SBI Mutual Fund recorded the highest AUM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• SBI Mutual Fund recorded the highest AUM.</a:t>
            </a:r>
          </a:p>
          <a:p>
            <a:pPr marL="0" indent="0">
              <a:buSzTx/>
              <a:buNone/>
            </a:pPr>
            <a:r>
              <a:t>• SIP inflows showed strong growth.</a:t>
            </a:r>
          </a:p>
          <a:p>
            <a:pPr marL="0" indent="0">
              <a:buSzTx/>
              <a:buNone/>
            </a:pPr>
            <a:r>
              <a:t>• High Sharpe Ratio funds delivered superior risk-adjusted returns.</a:t>
            </a:r>
          </a:p>
          <a:p>
            <a:pPr marL="0" indent="0">
              <a:buSzTx/>
              <a:buNone/>
            </a:pPr>
            <a:r>
              <a:t>• Most SIP investors maintained regular contribution schedules.</a:t>
            </a:r>
          </a:p>
          <a:p>
            <a:pPr marL="0" indent="0">
              <a:buSzTx/>
              <a:buNone/>
            </a:pPr>
            <a:r>
              <a:t>• Certain funds exhibited higher sector concentration risk.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HANK YOU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i="1" u="sng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212" name="Shivansh Khann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Shivansh Khanna</a:t>
            </a:r>
          </a:p>
          <a:p>
            <a:pPr marL="0" indent="0">
              <a:buSzTx/>
              <a:buNone/>
            </a:pPr>
            <a:r>
              <a:t>B.Tech CSE (AI &amp; Data Science)</a:t>
            </a:r>
          </a:p>
          <a:p>
            <a:pPr marL="0" indent="0">
              <a:buSzTx/>
              <a:buNone/>
            </a:pPr>
            <a:r>
              <a:t>Graphic Era University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